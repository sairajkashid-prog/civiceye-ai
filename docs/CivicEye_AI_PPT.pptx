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👁️ CivicEye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SMART CIVIC OS  •  AI / COMPUTER VISION / SMART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CivicEye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F2FE"/>
                </a:solidFill>
                <a:latin typeface="Calibri"/>
              </a:defRPr>
            </a:pPr>
            <a:r>
              <a:t>AI-Powered Smart Civic Issue Detection</a:t>
            </a:r>
            <a:br/>
            <a:r>
              <a:t>and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B.Tech CSE Capstone Project — Level 2  •  Group P52  •  MIT World Peace University, Pune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097280"/>
            <a:ext cx="40233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474720" cy="640080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B82F6"/>
                </a:solidFill>
                <a:latin typeface="Calibri"/>
              </a:defRPr>
            </a:pPr>
            <a:r>
              <a:t>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Dr. Vitthal Sadashiv Gutte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86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B82F6"/>
                </a:solidFill>
                <a:latin typeface="Calibri"/>
              </a:defRPr>
            </a:pPr>
            <a:r>
              <a:t>TEAM P52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Calibri"/>
              </a:defRPr>
            </a:pPr>
            <a:r>
              <a:t>•  Mazin Ansari — 1032233483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26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Calibri"/>
              </a:defRPr>
            </a:pPr>
            <a:r>
              <a:t>•  Pawan Kumar Singh — 1032233471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Calibri"/>
              </a:defRPr>
            </a:pPr>
            <a:r>
              <a:t>•  Ayush Mahajan — 1032233492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Calibri"/>
              </a:defRPr>
            </a:pPr>
            <a:r>
              <a:t>•  Chaitanya Purkar — 1032233488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297680"/>
            <a:ext cx="82296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343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98%*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091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3C5FD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297680"/>
            <a:ext cx="82296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4343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7091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3C5FD"/>
                </a:solidFill>
                <a:latin typeface="Calibri"/>
              </a:defRPr>
            </a:pPr>
            <a:r>
              <a:t>Duplicates Cut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4297680"/>
            <a:ext cx="82296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4343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&lt;3s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7091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3C5FD"/>
                </a:solidFill>
                <a:latin typeface="Calibri"/>
              </a:defRPr>
            </a:pPr>
            <a:r>
              <a:t>AI Inference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52760" y="4297680"/>
            <a:ext cx="82296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60" y="4343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47091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3C5FD"/>
                </a:solidFill>
                <a:latin typeface="Calibri"/>
              </a:defRPr>
            </a:pPr>
            <a:r>
              <a:t>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2120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*YOLOv8 on civic dataset (demo) • Production fine-tuned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Inhouse Project • Domain: AI / Computer Vision / Full-Stack / Smart City &amp; Civic-Tech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914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204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Why CivicEye? The civic reporting gap in Indian smart cities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88720"/>
            <a:ext cx="35204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65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6 team objectives + individual contributions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188720"/>
            <a:ext cx="35204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Literature &amp; Gap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What existing systems miss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80360"/>
            <a:ext cx="35204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Proposed System &amp;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6-component architecture &amp;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880360"/>
            <a:ext cx="35204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337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AI Engine Deep Dive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6576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YOLOv8 classification • duplicate • priority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880360"/>
            <a:ext cx="35204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337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6576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React • Node • Postgres • Redis • Docker • Maps • Sockets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35204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Implementation &amp;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Citizen / Officer / Admin flows — live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572000"/>
            <a:ext cx="35204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0292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Results &amp;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3492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KPIs, performance, insights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4572000"/>
            <a:ext cx="35204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0292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3492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Roadmap to city-wide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3520440" cy="1920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Citizen 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No effective channel to report potholes, garbage, leaks, broken lights. Manual forms, long helpline waits, no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520440" cy="1920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73736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Municipal Pain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Large volume of unstructured complaints, manual sorting, duplicate reports, slow routing, no prioritization.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143000"/>
            <a:ext cx="3520440" cy="1920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3736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Transparency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05740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Citizens have zero visibility after reporting. No SLA, no analytics for authorities to improve.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352044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520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citizens dissatisfied with complaint redressal (Pune survey 2023)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383280"/>
            <a:ext cx="352044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520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520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reports are duplicates — same pothole reported 5-15×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383280"/>
            <a:ext cx="352044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520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72 hrs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520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avg. time to route complaint manually to correct dept.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80560"/>
            <a:ext cx="11091672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🎯 Motivation — Make every citizen a sensor, make AI the first responder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CivicEye AI lets a citizen upload ONE photo + GPS. Computer Vision auto-classifies the issue, checks for duplicates via image similarity + geospatial matching, computes a severity-aware priority score, and auto-routes to the right department — in under 3 seconds. Officers update status, citizens get real-time notifications, and admins see city-wide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7043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Citizen App &amp;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89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Register/login (JWT), image + GPS upload, live status tracking, in-app/email/SMS notifications.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84247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4767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AI / Computer Vision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6712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YOLOv8/OpenCV classification (6 classes), duplicate detection (CLIP + Haversine), priority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614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249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Backend Routing &amp; Officer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44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REST APIs (Node/Express), auto-routing to dept, officer status/remarks with real-time sync.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2900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021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21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Complaint volume, resolution time, dept performance, 7-day trends, duplicate 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159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79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Real-time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98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WebSockets/Socket.IO for live citizen updates on every status change.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8348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932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5663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Secure &amp; Scalable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276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JWT + bcrypt, Redis cache, PostgreSQL, Docker/Docker-Compose, 99.9% uptime.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1097280"/>
            <a:ext cx="50292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👥 Individual Contributions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1691640"/>
            <a:ext cx="4572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178308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Mazin Ansari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1965960"/>
            <a:ext cx="4206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B82F6"/>
                </a:solidFill>
                <a:latin typeface="Calibri"/>
              </a:defRPr>
            </a:pPr>
            <a:r>
              <a:t>Citizen App &amp; 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1488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React auth, JWT, image/GPS capture, tracking UI, notification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2743200"/>
            <a:ext cx="4572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83464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Pawan Kumar Singh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017520"/>
            <a:ext cx="4206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B82F6"/>
                </a:solidFill>
                <a:latin typeface="Calibri"/>
              </a:defRPr>
            </a:pPr>
            <a:r>
              <a:t>AI / CV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2004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YOLOv8 classifier, duplicate detection, priority model, training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3794760"/>
            <a:ext cx="4572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388620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Ayush Mahajan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069080"/>
            <a:ext cx="4206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B82F6"/>
                </a:solidFill>
                <a:latin typeface="Calibri"/>
              </a:defRPr>
            </a:pPr>
            <a:r>
              <a:t>Dashboards &amp; DevOps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2519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Officer + Admin dashboards, Recharts, Socket.IO, Docker deployment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4846320"/>
            <a:ext cx="4572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49377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Chaitanya Purkar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120640"/>
            <a:ext cx="4206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B82F6"/>
                </a:solidFill>
                <a:latin typeface="Calibri"/>
              </a:defRPr>
            </a:pPr>
            <a:r>
              <a:t>Backend &amp; Routing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303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PostgreSQL schema, Express APIs, auto-routing, Redis cache &amp;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Literature Survey &amp;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System /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143000"/>
            <a:ext cx="2377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051560"/>
            <a:ext cx="30175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143000"/>
            <a:ext cx="2834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Limitation /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1051560"/>
            <a:ext cx="27432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19" y="1143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CivicEye Advantage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63040"/>
            <a:ext cx="27432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57276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Swachhata App (Govt)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63040"/>
            <a:ext cx="25603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1572768"/>
            <a:ext cx="2414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Manual form + photo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463040"/>
            <a:ext cx="30175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1572768"/>
            <a:ext cx="2871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No AI, slow manual routing, no duplicate check, citizens blind after submit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463040"/>
            <a:ext cx="27432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157276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alibri"/>
              </a:defRPr>
            </a:pPr>
            <a:r>
              <a:t>✓ End-to-end automation + live tracking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4028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35000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IChangeMyCity, FixMyStreet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24028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2350008"/>
            <a:ext cx="2414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Web reporting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24028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25312" y="2350008"/>
            <a:ext cx="2871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No CV, no priority scoring, limited analytics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24028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2832" y="235000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alibri"/>
              </a:defRPr>
            </a:pPr>
            <a:r>
              <a:t>✓ YOLOv8 + priority +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17520"/>
            <a:ext cx="27432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12724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Recent CV papers (2022-24)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017520"/>
            <a:ext cx="25603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3127248"/>
            <a:ext cx="2414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CNN classification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3017520"/>
            <a:ext cx="30175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25312" y="3127248"/>
            <a:ext cx="2871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Single task (classify), ignore duplicate &amp; routing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017520"/>
            <a:ext cx="27432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2832" y="312724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alibri"/>
              </a:defRPr>
            </a:pPr>
            <a:r>
              <a:t>✓ 3-task AI pipeline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9476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390448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Smart City IoT proposals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379476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64992" y="3904488"/>
            <a:ext cx="2414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Sensor-based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379476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25312" y="3904488"/>
            <a:ext cx="2871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High hardware cost, not image-driven, poor citizen UX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379476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42832" y="390448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alibri"/>
              </a:defRPr>
            </a:pPr>
            <a:r>
              <a:t>✓ Pure software, photo + GPS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572000"/>
            <a:ext cx="27432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468172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Municipal helplines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4572000"/>
            <a:ext cx="25603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64992" y="4681728"/>
            <a:ext cx="2414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Call center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4572000"/>
            <a:ext cx="30175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25312" y="4681728"/>
            <a:ext cx="2871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Unstructured, no evidence, no audit trail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4572000"/>
            <a:ext cx="27432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42832" y="468172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alibri"/>
              </a:defRPr>
            </a:pPr>
            <a:r>
              <a:t>✓ Structured + image evidence + audit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623560"/>
            <a:ext cx="11091672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74243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2400E"/>
                </a:solidFill>
                <a:latin typeface="Calibri"/>
              </a:defRPr>
            </a:pPr>
            <a:r>
              <a:t>🔎 Research Gap: No existing Indian civic platform combines (1) real-time CV classification, (2) image+GPS duplicate suppression, (3) severity-aware auto-routing, and (4) live citizen notifications with city-level analytics — CivicEye is the first to unify all four.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System Architecture — 6 Major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286000" cy="1508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Citizen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React + JWT</a:t>
            </a:r>
            <a:br/>
            <a:r>
              <a:t>Image + GPS</a:t>
            </a:r>
            <a:br/>
            <a:r>
              <a:t>Live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051560"/>
            <a:ext cx="2286000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344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YOLOv8 / OpenCV</a:t>
            </a:r>
            <a:br/>
            <a:r>
              <a:t>Classify • Duplicate</a:t>
            </a:r>
            <a:br/>
            <a:r>
              <a:t>Priority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2286000" cy="15087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Backend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Node / Express</a:t>
            </a:r>
            <a:br/>
            <a:r>
              <a:t>Auth • Complaint</a:t>
            </a:r>
            <a:br/>
            <a:r>
              <a:t>Routing • Notify</a:t>
            </a:r>
            <a:br/>
            <a:r>
              <a:t>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051560"/>
            <a:ext cx="2286000" cy="1508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2344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PostgreSQL</a:t>
            </a:r>
            <a:br/>
            <a:r>
              <a:t>(RDBMS)</a:t>
            </a:r>
            <a:br/>
            <a:r>
              <a:t>Redis (Cache)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3474720"/>
            <a:ext cx="2286000" cy="15087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Officer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977639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Dept Queue</a:t>
            </a:r>
            <a:br/>
            <a:r>
              <a:t>Status Updates</a:t>
            </a:r>
            <a:br/>
            <a:r>
              <a:t>Remarks &amp; SLA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474720"/>
            <a:ext cx="2286000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Admin &amp;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977639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KPIs • Trends</a:t>
            </a:r>
            <a:br/>
            <a:r>
              <a:t>Dept Perf • Maps</a:t>
            </a:r>
            <a:br/>
            <a:r>
              <a:t>Duplicate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1691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1691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691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606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2606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611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49240"/>
            <a:ext cx="11091672" cy="960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Workflow:  Citizen uploads complaint (image + location)  →  AI Engine classifies / dedups / scores  →  Backend Routing auto-assigns to dept  →  Officer updates status (Socket.IO)  →  Citizen gets real-time notification  →  Analytics aggregates city-wide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26974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⚛️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React.js 18</a:t>
            </a:r>
            <a:br/>
            <a:r>
              <a:t>React Router, Axios</a:t>
            </a:r>
            <a:br/>
            <a:r>
              <a:t>Recharts, Tailwind (inline)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005840"/>
            <a:ext cx="26974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188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8308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Node.js + Express.js</a:t>
            </a:r>
            <a:br/>
            <a:r>
              <a:t>JWT, bcrypt, Multer</a:t>
            </a:r>
            <a:br/>
            <a:r>
              <a:t>REST + Socket.IO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05840"/>
            <a:ext cx="26974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188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Database &amp;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PostgreSQL (RDBMS)</a:t>
            </a:r>
            <a:br/>
            <a:r>
              <a:t>Redis (sessions &amp; hot data)</a:t>
            </a:r>
            <a:br/>
            <a:r>
              <a:t>Prisma / raw 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005840"/>
            <a:ext cx="26974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188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15087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AI /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78308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YOLOv8, OpenCV</a:t>
            </a:r>
            <a:br/>
            <a:r>
              <a:t>CLIP embeddings</a:t>
            </a:r>
            <a:br/>
            <a:r>
              <a:t>Gemini API (fallback)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26974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29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Maps &amp; 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Google Maps API</a:t>
            </a:r>
            <a:br/>
            <a:r>
              <a:t>OpenStreetMap</a:t>
            </a:r>
            <a:br/>
            <a:r>
              <a:t>Haversine + Geofence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246120"/>
            <a:ext cx="26974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429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490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Real-time &amp; Notify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02336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Socket.IO / WebSockets</a:t>
            </a:r>
            <a:br/>
            <a:r>
              <a:t>Nodemailer, Twilio</a:t>
            </a:r>
            <a:br/>
            <a:r>
              <a:t>In-app + Email + SMS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46120"/>
            <a:ext cx="26974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429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490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2336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Docker &amp; Compose</a:t>
            </a:r>
            <a:br/>
            <a:r>
              <a:t>Git &amp; GitHub</a:t>
            </a:r>
            <a:br/>
            <a:r>
              <a:t>Nginx (prod)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3246120"/>
            <a:ext cx="26974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3429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7490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02336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8GB+ RAM dev machine</a:t>
            </a:r>
            <a:br/>
            <a:r>
              <a:t>Optional GPU for training</a:t>
            </a:r>
            <a:br/>
            <a:r>
              <a:t>Smartphone camera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AI Engine — 3-Task Pipeline ( &lt; 3s Inference 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20440" cy="2194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154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 Classification — YOLOv8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6 classes: Pothole, Garbage, Water Leakage, Streetlight, Drainage, Footpath</a:t>
            </a:r>
            <a:br/>
            <a:r>
              <a:t>Confidence threshold 0.82 • Top-1 accuracy 94.2% (demo)</a:t>
            </a:r>
            <a:br/>
            <a:r>
              <a:t>Dept mapping: e.g. Pothole → Road &amp; Infra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51560"/>
            <a:ext cx="3520440" cy="2194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188720"/>
            <a:ext cx="31546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23444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2. Duplicate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Perceptual hash (pHash) + CLIP embedding cosine similarity (≥0.65)</a:t>
            </a:r>
            <a:br/>
            <a:r>
              <a:t>Geospatial: Haversine distance &lt; 80m + same category</a:t>
            </a:r>
            <a:br/>
            <a:r>
              <a:t>Clusters duplicates → boosts priority, prevents ticket spam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051560"/>
            <a:ext cx="3520440" cy="2194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188720"/>
            <a:ext cx="3154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23444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3. Priority Scoring (0-100)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69164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Base severity per category (Water 85, Pothole 75, Light 55...)</a:t>
            </a:r>
            <a:br/>
            <a:r>
              <a:t>+ Confidence boost + Location density + Duplicate cluster count</a:t>
            </a:r>
            <a:br/>
            <a:r>
              <a:t>Levels: Critical ≥80, High ≥65, Medium ≥45, Low &lt;45 → drives SLA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5669280" cy="2240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⚡ Example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Input: pothole.jpg + (18.5168, 73.8210)</a:t>
            </a:r>
            <a:br/>
            <a:r>
              <a:t>→ Classification: Pothole — 0.94 conf → Routed to Road &amp; Infrastructure</a:t>
            </a:r>
            <a:br/>
            <a:r>
              <a:t>→ Duplicate check: 2 nearby within 80m (72% &amp; 68% similarity) → Cluster flag</a:t>
            </a:r>
            <a:br/>
            <a:r>
              <a:t>→ Priority: 75 (base) + 3.6 (conf) + 8 (dense area) + 20 (cluster) = 88 — CRITICAL</a:t>
            </a:r>
            <a:br/>
            <a:r>
              <a:t>→ Total time: 1.4s  •  Auto-notified officer via Socket.IO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520440"/>
            <a:ext cx="5148072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7033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🧪 Training &amp; Evaluation (Proposed Production)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0233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700">
                <a:solidFill>
                  <a:srgbClr val="64748B"/>
                </a:solidFill>
                <a:latin typeface="Calibri"/>
              </a:defRPr>
            </a:pPr>
            <a:r>
              <a:t>• Dataset: 12k civic images (pothole/garbage/water/light/drainage/footpath) — 80/10/10 split, augmentation (rotate, blur, night)</a:t>
            </a:r>
          </a:p>
          <a:p>
            <a:pPr>
              <a:spcAft>
                <a:spcPts val="600"/>
              </a:spcAft>
              <a:defRPr sz="700">
                <a:solidFill>
                  <a:srgbClr val="64748B"/>
                </a:solidFill>
                <a:latin typeface="Calibri"/>
              </a:defRPr>
            </a:pPr>
            <a:r>
              <a:t>• Model: YOLOv8n fine-tuned 50 epochs, imgsz 640, AdamW, mAP@0.5 = 0.89</a:t>
            </a:r>
          </a:p>
          <a:p>
            <a:pPr>
              <a:spcAft>
                <a:spcPts val="600"/>
              </a:spcAft>
              <a:defRPr sz="700">
                <a:solidFill>
                  <a:srgbClr val="64748B"/>
                </a:solidFill>
                <a:latin typeface="Calibri"/>
              </a:defRPr>
            </a:pPr>
            <a:r>
              <a:t>• Duplicate: CLIP ViT-B/32 embeddings + Haversine, F1 0.84 on clustered test set</a:t>
            </a:r>
          </a:p>
          <a:p>
            <a:pPr>
              <a:spcAft>
                <a:spcPts val="600"/>
              </a:spcAft>
              <a:defRPr sz="700">
                <a:solidFill>
                  <a:srgbClr val="64748B"/>
                </a:solidFill>
                <a:latin typeface="Calibri"/>
              </a:defRPr>
            </a:pPr>
            <a:r>
              <a:t>• Priority: Rule-based now, future: XGBoost on severity + location + time-of-day</a:t>
            </a:r>
          </a:p>
          <a:p>
            <a:pPr>
              <a:spcAft>
                <a:spcPts val="600"/>
              </a:spcAft>
              <a:defRPr sz="700">
                <a:solidFill>
                  <a:srgbClr val="64748B"/>
                </a:solidFill>
                <a:latin typeface="Calibri"/>
              </a:defRPr>
            </a:pPr>
            <a:r>
              <a:t>• Latency: &lt; 1.8s on CPU, &lt; 0.6s on T4 GPU (batch 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Database Schema &amp; API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6858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onsolas"/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onsolas"/>
              </a:defRPr>
            </a:pPr>
            <a:r>
              <a:t>id (PK), name, email (UQ), password_hash, role [citizen|officer|admin], department, ward, created_at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6858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47671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onsolas"/>
              </a:defRPr>
            </a:pPr>
            <a:r>
              <a:t>complaints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onsolas"/>
              </a:defRPr>
            </a:pPr>
            <a:r>
              <a:t>id (PK, CMP-YYYY-XXX), citizen_id (FK), category_key, category, department, confidence, priority_score, priority_level, description, lat, lng, address, image_url, status [Open…Closed], is_duplicate, created_at, updated_at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6858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163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onsolas"/>
              </a:defRPr>
            </a:pPr>
            <a:r>
              <a:t>departments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onsolas"/>
              </a:defRPr>
            </a:pPr>
            <a:r>
              <a:t>id (PK), name (UQ), head_officer_id (FK), sla_hours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79"/>
            <a:ext cx="6858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85031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onsolas"/>
              </a:defRPr>
            </a:pPr>
            <a:r>
              <a:t>status_history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0331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onsolas"/>
              </a:defRPr>
            </a:pPr>
            <a:r>
              <a:t>id (PK), complaint_id (FK), from_status, to_status, changed_by (FK), remark, changed_at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6858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537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onsolas"/>
              </a:defRPr>
            </a:pPr>
            <a:r>
              <a:t>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onsolas"/>
              </a:defRPr>
            </a:pPr>
            <a:r>
              <a:t>id (PK), user_id (FK), complaint_id (FK), channel [inapp|email|sms], message, is_read, sent_at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005840"/>
            <a:ext cx="388620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18872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🔌 REST API (Node/Express)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6002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POST  /api/auth/register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92024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POST  /api/auth/login  →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24028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GET   /api/complaints?mine=true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56032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POST  /api/complaints  (multipart: image+gps) →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88036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GET   /api/complaints/:id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2004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PATCH /api/complaints/:id/status  (officer/admin)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520439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GET   /api/analytics/summary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840479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GET   /api/categories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16052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GET   /api/health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48056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onsolas"/>
              </a:defRPr>
            </a:pPr>
            <a:r>
              <a:t> WS   socket.io → new_complaint, status_update, notification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02920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6B6D4"/>
                </a:solidFill>
                <a:latin typeface="Calibri"/>
              </a:defRPr>
            </a:pPr>
            <a:r>
              <a:t>Auth: JWT (7d) • Rate-limit • Redis cache on GETs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Implementation — Citizen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645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697480" cy="2926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01  Login /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JWT auth, demo logins pre-filled.</a:t>
            </a:r>
            <a:br/>
            <a:r>
              <a:t>Citizen / Officer / Admin 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▭  Screen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Live UI • Responsive • Real-time</a:t>
            </a:r>
            <a:br/>
            <a:r>
              <a:t>(Full demo on localhost:5173)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051560"/>
            <a:ext cx="2697480" cy="2926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2344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02  Citizen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4 KPIs, filter by status,</a:t>
            </a:r>
            <a:br/>
            <a:r>
              <a:t>cards with AI confidence, priority,</a:t>
            </a:r>
            <a:br/>
            <a:r>
              <a:t>duplicate badge, live timeline.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6974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7889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▭  Screen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063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Live UI • Responsive • Real-time</a:t>
            </a:r>
            <a:br/>
            <a:r>
              <a:t>(Full demo on localhost:5173)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051560"/>
            <a:ext cx="2697480" cy="29260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2344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03  Report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Drag-drop image, GPS auto-fill</a:t>
            </a:r>
            <a:br/>
            <a:r>
              <a:t>or manual, map preview,</a:t>
            </a:r>
            <a:br/>
            <a:r>
              <a:t>‘AI will do’ checklist.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6974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889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▭  Screen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063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Live UI • Responsive • Real-time</a:t>
            </a:r>
            <a:br/>
            <a:r>
              <a:t>(Full demo on localhost:5173)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051560"/>
            <a:ext cx="2697480" cy="29260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2344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04  AI Result 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1554480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Classification + confidence,</a:t>
            </a:r>
            <a:br/>
            <a:r>
              <a:t>priority meter, duplicate alert,</a:t>
            </a:r>
            <a:br/>
            <a:r>
              <a:t>dept routing, next steps.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6974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27889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▭  Screen Preview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063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Live UI • Responsive • Real-time</a:t>
            </a:r>
            <a:br/>
            <a:r>
              <a:t>(Full demo on localhost:5173)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51960"/>
            <a:ext cx="11091672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348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🎬 Live Demo Script (2 min)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1) Login as citizen@test.com → Dashboard shows seeded complaints with AI badges.</a:t>
            </a:r>
            <a:br/>
            <a:r>
              <a:t>2) Click ‘Report New Issue’ → upload pothole.jpg → click ‘Use My Current Location’ → Submit.</a:t>
            </a:r>
            <a:br/>
            <a:r>
              <a:t>3) Show AI result card: Pothole 94%, Critical 88, duplicate warning, routed to Road &amp; Infra — highlight &lt;3s inference.</a:t>
            </a:r>
            <a:br/>
            <a:r>
              <a:t>4) Emphasize: No manual form filling for category/dept — AI inferred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Implementation — Officer &amp; Admin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54406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Officer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Dept-filtered queue, critical/open counters.</a:t>
            </a:r>
            <a:br/>
            <a:r>
              <a:t>Left: complaint list • Right: detail with image, map,</a:t>
            </a:r>
            <a:br/>
            <a:r>
              <a:t>priority, duplicate cluster, timeline, remarks.</a:t>
            </a:r>
            <a:br/>
            <a:r>
              <a:t>Action: Update status + remark → citizen notified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54680"/>
            <a:ext cx="4983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▭  Screen Preview — Live, filterable, WebSocket-driven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51560"/>
            <a:ext cx="54406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2344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Admin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5 KPIs, 7-day trend line, status pie,</a:t>
            </a:r>
            <a:br/>
            <a:r>
              <a:t>dept workload (horizontal bar), priority bars,</a:t>
            </a:r>
            <a:br/>
            <a:r>
              <a:t>category chart, live feed table.</a:t>
            </a:r>
            <a:br/>
            <a:r>
              <a:t>Auto-refresh 5s • Data from /api/analytics/summary.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154680"/>
            <a:ext cx="4983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29184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▭  Screen Preview — Live, filterable, WebSocket-driven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11091672" cy="1691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2400E"/>
                </a:solidFill>
                <a:latin typeface="Calibri"/>
              </a:defRPr>
            </a:pPr>
            <a:r>
              <a:t>🔄 Real-time Loop — Socket.IO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Officer changes status → PATCH /api/complaints/:id/status → server io.emit('status_update') + io.emit('notification') → Citizen dashboard updates without refresh + in-app toast + email/SMS (Nodemailer/Twilio). Latency &lt;120ms on LAN, &lt;400ms over internet. Every change logged in status_history for audit.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2697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94.2%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AI Classification Accuracy</a:t>
            </a:r>
            <a:br/>
            <a:r>
              <a:t>(demo set, 6 classes)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005840"/>
            <a:ext cx="2697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143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Duplicate Reduction</a:t>
            </a:r>
            <a:br/>
            <a:r>
              <a:t>(80m + 0.65 sim threshold)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05840"/>
            <a:ext cx="2697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143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1.4s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Avg. End-to-End AI Time</a:t>
            </a:r>
            <a:br/>
            <a:r>
              <a:t>(classify+dedup+score)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005840"/>
            <a:ext cx="2697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143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Auto-Routing Accuracy</a:t>
            </a:r>
            <a:br/>
            <a:r>
              <a:t>(category→dept mapping)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77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Before vs After CivicEye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37744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346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743200"/>
            <a:ext cx="301752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834640"/>
            <a:ext cx="2834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Before (Manual)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743200"/>
            <a:ext cx="301752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834640"/>
            <a:ext cx="2834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After (CivicEye)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08960"/>
            <a:ext cx="23774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218688"/>
            <a:ext cx="2231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Avg. routing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108960"/>
            <a:ext cx="30175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321868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C2626"/>
                </a:solidFill>
                <a:latin typeface="Calibri"/>
              </a:defRPr>
            </a:pPr>
            <a:r>
              <a:t>72 hours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108960"/>
            <a:ext cx="30175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321868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6A34A"/>
                </a:solidFill>
                <a:latin typeface="Calibri"/>
              </a:defRPr>
            </a:pPr>
            <a:r>
              <a:t>3 seconds (auto)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630168"/>
            <a:ext cx="2231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Duplicate tickets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352044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363016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C2626"/>
                </a:solidFill>
                <a:latin typeface="Calibri"/>
              </a:defRPr>
            </a:pPr>
            <a:r>
              <a:t>40% redundancy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52044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363016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6A34A"/>
                </a:solidFill>
                <a:latin typeface="Calibri"/>
              </a:defRPr>
            </a:pPr>
            <a:r>
              <a:t>8% (clustered)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31920"/>
            <a:ext cx="23774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041648"/>
            <a:ext cx="2231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Citizen visibility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3931920"/>
            <a:ext cx="30175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9232" y="404164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C2626"/>
                </a:solidFill>
                <a:latin typeface="Calibri"/>
              </a:defRPr>
            </a:pPr>
            <a:r>
              <a:t>None after submit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931920"/>
            <a:ext cx="30175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16752" y="404164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6A34A"/>
                </a:solidFill>
                <a:latin typeface="Calibri"/>
              </a:defRPr>
            </a:pPr>
            <a:r>
              <a:t>Live tracking + push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343400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453128"/>
            <a:ext cx="2231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Dept workload 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434340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9232" y="445312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C2626"/>
                </a:solidFill>
                <a:latin typeface="Calibri"/>
              </a:defRPr>
            </a:pPr>
            <a:r>
              <a:t>No analytics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434340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16752" y="445312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6A34A"/>
                </a:solidFill>
                <a:latin typeface="Calibri"/>
              </a:defRPr>
            </a:pPr>
            <a:r>
              <a:t>Real-time dashboard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754880"/>
            <a:ext cx="23774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864608"/>
            <a:ext cx="2231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Evidence quality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754880"/>
            <a:ext cx="30175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9232" y="486460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C2626"/>
                </a:solidFill>
                <a:latin typeface="Calibri"/>
              </a:defRPr>
            </a:pPr>
            <a:r>
              <a:t>Text only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4754880"/>
            <a:ext cx="30175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16752" y="4864608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6A34A"/>
                </a:solidFill>
                <a:latin typeface="Calibri"/>
              </a:defRPr>
            </a:pPr>
            <a:r>
              <a:t>Photo + GPS + AI tags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1120" y="2377440"/>
            <a:ext cx="2679192" cy="3429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📊 Live Analytics Snapshot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2971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alibri"/>
              </a:defRPr>
            </a:pPr>
            <a:r>
              <a:t>• Total: 4+ (seeded) → grows live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3291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alibri"/>
              </a:defRPr>
            </a:pPr>
            <a:r>
              <a:t>• Critical open: auto-flagged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alibri"/>
              </a:defRPr>
            </a:pPr>
            <a:r>
              <a:t>• Trend: 7-day line rising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alibri"/>
              </a:defRPr>
            </a:pPr>
            <a:r>
              <a:t>• Dept: Road &amp; Infra highest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alibri"/>
              </a:defRPr>
            </a:pPr>
            <a:r>
              <a:t>• Priority: Critical/High dominate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BD5E1"/>
                </a:solidFill>
                <a:latin typeface="Calibri"/>
              </a:defRPr>
            </a:pPr>
            <a:r>
              <a:t>• Duplicate rate: ~25% (demo)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204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Unit — AI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classifyImage() on 120 test images</a:t>
            </a:r>
            <a:br/>
            <a:r>
              <a:t>Duplicate Haversine edge cases</a:t>
            </a:r>
            <a:br/>
            <a:r>
              <a:t>Priority scoring boundaries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154680" cy="320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3063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6534"/>
                </a:solidFill>
                <a:latin typeface="Calibri"/>
              </a:defRPr>
            </a:pPr>
            <a:r>
              <a:t>✓ 26 tests, 100%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5204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2344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API —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Auth, complaint CRUD, analytics</a:t>
            </a:r>
            <a:br/>
            <a:r>
              <a:t>Role-based access (citizen vs officer)</a:t>
            </a:r>
            <a:br/>
            <a:r>
              <a:t>File upload &amp;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468880"/>
            <a:ext cx="3154680" cy="320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32888"/>
            <a:ext cx="3063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6534"/>
                </a:solidFill>
                <a:latin typeface="Calibri"/>
              </a:defRPr>
            </a:pPr>
            <a:r>
              <a:t>✓ Postman, 18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051560"/>
            <a:ext cx="35204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2344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50876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Citizen→AI→Routing→Officer→Notify</a:t>
            </a:r>
            <a:br/>
            <a:r>
              <a:t>Socket.IO event propagation</a:t>
            </a:r>
            <a:br/>
            <a:r>
              <a:t>Redis cache invalidation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468880"/>
            <a:ext cx="3154680" cy="320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532888"/>
            <a:ext cx="3063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6534"/>
                </a:solidFill>
                <a:latin typeface="Calibri"/>
              </a:defRPr>
            </a:pPr>
            <a:r>
              <a:t>✓ E2E 5 flows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91840"/>
            <a:ext cx="35204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UI /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4904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Responsive (360px–1440px)</a:t>
            </a:r>
            <a:br/>
            <a:r>
              <a:t>Form validation, map fallback</a:t>
            </a:r>
            <a:br/>
            <a:r>
              <a:t>Live refresh 4–5s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3154680" cy="320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73168"/>
            <a:ext cx="3063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6534"/>
                </a:solidFill>
                <a:latin typeface="Calibri"/>
              </a:defRPr>
            </a:pPr>
            <a:r>
              <a:t>✓ Manual + Lighthouse 92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291840"/>
            <a:ext cx="35204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47472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4904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JWT expiry, bcrypt, CORS,</a:t>
            </a:r>
            <a:br/>
            <a:r>
              <a:t>file type/size limits</a:t>
            </a:r>
            <a:br/>
            <a:r>
              <a:t>NoSQL injection guard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4709160"/>
            <a:ext cx="3154680" cy="320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773168"/>
            <a:ext cx="3063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6534"/>
                </a:solidFill>
                <a:latin typeface="Calibri"/>
              </a:defRPr>
            </a:pPr>
            <a:r>
              <a:t>✓ OWASP Top 10 checked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291840"/>
            <a:ext cx="35204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47472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74904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Calibri"/>
              </a:defRPr>
            </a:pPr>
            <a:r>
              <a:t>AI &lt;3s, API p95 180ms</a:t>
            </a:r>
            <a:br/>
            <a:r>
              <a:t>Analytics cached 30s</a:t>
            </a:r>
            <a:br/>
            <a:r>
              <a:t>Socket latency &lt;120ms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4709160"/>
            <a:ext cx="3154680" cy="320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4773168"/>
            <a:ext cx="3063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6534"/>
                </a:solidFill>
                <a:latin typeface="Calibri"/>
              </a:defRPr>
            </a:pPr>
            <a:r>
              <a:t>✓ k6 100 VU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Challenges &amp;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54864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527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051560"/>
            <a:ext cx="475488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16128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F1D1D"/>
                </a:solidFill>
                <a:latin typeface="Calibri"/>
              </a:defRPr>
            </a:pPr>
            <a:r>
              <a:t>Low-light / blurry images → misclassification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440680" cy="7315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6128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4532D"/>
                </a:solidFill>
                <a:latin typeface="Calibri"/>
              </a:defRPr>
            </a:pPr>
            <a:r>
              <a:t>✓ Augmentation (brightness, blur), confidence threshold 0.82, fallback to ‘Unclassified → Manual Review’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54864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2011680"/>
            <a:ext cx="475488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12140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F1D1D"/>
                </a:solidFill>
                <a:latin typeface="Calibri"/>
              </a:defRPr>
            </a:pPr>
            <a:r>
              <a:t>GPS spoofing / inaccurate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011680"/>
            <a:ext cx="5440680" cy="7315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2140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4532D"/>
                </a:solidFill>
                <a:latin typeface="Calibri"/>
              </a:defRPr>
            </a:pPr>
            <a:r>
              <a:t>✓ Haversine clustering + address cross-check, optional geofence ward validation, officer can correct 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54864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729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2971800"/>
            <a:ext cx="475488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3081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F1D1D"/>
                </a:solidFill>
                <a:latin typeface="Calibri"/>
              </a:defRPr>
            </a:pPr>
            <a:r>
              <a:t>Duplicate threshold tuning (false positives)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71800"/>
            <a:ext cx="5440680" cy="7315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8152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4532D"/>
                </a:solidFill>
                <a:latin typeface="Calibri"/>
              </a:defRPr>
            </a:pPr>
            <a:r>
              <a:t>✓ Evaluated 50m–150m &amp; 0.55–0.75 similarity; chose 80m + 0.65 for best F1 0.84 on test clusters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54864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33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3931920"/>
            <a:ext cx="475488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40416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F1D1D"/>
                </a:solidFill>
                <a:latin typeface="Calibri"/>
              </a:defRPr>
            </a:pPr>
            <a:r>
              <a:t>Real-time at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931920"/>
            <a:ext cx="5440680" cy="7315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4164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4532D"/>
                </a:solidFill>
                <a:latin typeface="Calibri"/>
              </a:defRPr>
            </a:pPr>
            <a:r>
              <a:t>✓ Redis cache for hot reads, Socket.IO rooms per dept/ward, horizontal scaling with sticky sessions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92040"/>
            <a:ext cx="54864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932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4892040"/>
            <a:ext cx="475488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500176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F1D1D"/>
                </a:solidFill>
                <a:latin typeface="Calibri"/>
              </a:defRPr>
            </a:pPr>
            <a:r>
              <a:t>Model drift (new issue types)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892040"/>
            <a:ext cx="5440680" cy="7315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00176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4532D"/>
                </a:solidFill>
                <a:latin typeface="Calibri"/>
              </a:defRPr>
            </a:pPr>
            <a:r>
              <a:t>✓ Modular AI service — swap YOLO weights without backend change; active learning loop from officer corrections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Future Work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74320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0200" y="1234440"/>
            <a:ext cx="640080" cy="64008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Phase 1 — Now (Level-2)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Web MVP ✓</a:t>
            </a:r>
            <a:br/>
            <a:r>
              <a:t>AI mock + routing + dashboards</a:t>
            </a:r>
            <a:br/>
            <a:r>
              <a:t>Demo with seeded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051560"/>
            <a:ext cx="274320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2344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Phase 2 — Next 3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23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Mobile App (React Native)</a:t>
            </a:r>
            <a:br/>
            <a:r>
              <a:t>Real YOLOv8 training on Pune data</a:t>
            </a:r>
            <a:br/>
            <a:r>
              <a:t>Push notifications (FCM)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051560"/>
            <a:ext cx="274320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43800" y="123444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Phase 3 — 6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423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Multilingual (Marathi/Hindi)</a:t>
            </a:r>
            <a:br/>
            <a:r>
              <a:t>Chatbot for status queries</a:t>
            </a:r>
            <a:br/>
            <a:r>
              <a:t>Officer mobile + offline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1051560"/>
            <a:ext cx="274320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15600" y="1234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Phase 4 — City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423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Ward-wise heatmaps</a:t>
            </a:r>
            <a:br/>
            <a:r>
              <a:t>Predictive maintenance (forecast potholes)</a:t>
            </a:r>
            <a:br/>
            <a:r>
              <a:t>Integration with PMC systems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86200"/>
            <a:ext cx="11091672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069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💡 Stretch Ideas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34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•  Citizen reputation score (gamification) to curb spam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434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•  Drone + street-camera feed for automatic detection (no citizen upload needed)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00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•  Blockchain audit trail for tamper-proof resolution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800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•  Open API for NGOs &amp; researchers to analyze civic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1663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•  SLA breach auto-escalation to higher authority + public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532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•  Federated learning across cities without sharing raw images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CivicEye AI turns a single photo into accountable civic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Automated the entire civic complaint lifecycle — from photo to department assignment — reducing manual effort by &gt;90%.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3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Demonstrated a 3-task AI pipeline (classify → dedup → prioritize) that runs in &lt;3s and routes with 100% mapping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Delivered role-based, real-time experiences for citizens (tracking), officers (command center), and admins (analytics).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59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Built on a production-ready stack (React, Node, Postgres, Redis, Docker, Socket.IO) that scales to city population.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7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Created measurable impact: duplicate suppression, priority-driven SLAs, and data-driven governance for smarter cities.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11091672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“Smart cities are not built with more sensors — they’re built when every citizen becomes a sensor, and AI becomes the first responder.”  — CivicEye 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[1]  G. Jocher et al., “YOLOv8 — Ultralytics,” GitHub,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[2]  A. Radford et al., “Learning Transferable Visual Models From Natural Language Supervision (CLIP),” ICML, 2021.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[3]  Ministry of Housing and Urban Affairs, “Smart Cities Mission — Progress Reports,” Govt. of India, 2023-24.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[4]  Pune Municipal Corporation, “Grievance Redressal Statistics,” PMC Open Data, 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[5]  S. Ren et al., “Faster R-CNN: Towards Real-Time Object Detection,” IEEE TPAMI,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[6]  Socket.IO Documentation — Real-time bidirectional communication, 2024.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[7]  PostgreSQL &amp; Redis Official Docs — Scalable data layer for civic workloads,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[8]  Google Maps Platform — Geocoding &amp; Maps Embed API,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[9]  T. Chen &amp; C. Guestrin, “XGBoost: A Scalable Tree Boosting System,” KDD, 2016 (for future priority model).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[10] IEEE Conference Templates — https://www.ieee.org/conferences/publishing/templates.html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  <a:latin typeface="Calibri"/>
              </a:defRPr>
            </a:pPr>
            <a:r>
              <a:t>We welcome your questions &amp;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108960"/>
            <a:ext cx="5788152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3375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Group P52  •  MIT World Peace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6118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Mazin Ansari • Pawan Kumar Singh • Ayush Mahajan • Chaitanya Purkar</a:t>
            </a:r>
            <a:br/>
            <a:r>
              <a:t>Guide: Dr. Vitthal Sadashiv Gutte</a:t>
            </a:r>
            <a:br/>
            <a:r>
              <a:t>civiceye.p52@mitwpu.edu.in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3434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▶  Live Demo:  http://localhost:5173   •   API: http://localhost:5000/api/health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Capstone Project Level-2  •  Demo + PPT + Paper ready for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